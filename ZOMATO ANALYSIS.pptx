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8" r:id="rId8"/>
    <p:sldId id="269" r:id="rId9"/>
    <p:sldId id="258" r:id="rId10"/>
    <p:sldId id="259" r:id="rId11"/>
    <p:sldId id="260" r:id="rId12"/>
    <p:sldId id="261" r:id="rId13"/>
    <p:sldId id="26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F3D8-D19A-8557-DD47-81DC6DFBD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ZOMATO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762EF-0803-A8D2-D6F5-80966732D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Team Members: </a:t>
            </a:r>
            <a:r>
              <a:rPr lang="en-IN" dirty="0"/>
              <a:t>Avala Sai Kiran, Neha Devarashetty, Pannerselvam Rahul </a:t>
            </a:r>
            <a:r>
              <a:rPr lang="en-IN" dirty="0" err="1"/>
              <a:t>kumar</a:t>
            </a:r>
            <a:r>
              <a:rPr lang="en-IN" dirty="0"/>
              <a:t>, </a:t>
            </a:r>
            <a:r>
              <a:rPr lang="en-IN" dirty="0" err="1"/>
              <a:t>Shaik.Ameer</a:t>
            </a:r>
            <a:r>
              <a:rPr lang="en-IN" dirty="0"/>
              <a:t> shareef, </a:t>
            </a:r>
            <a:r>
              <a:rPr lang="en-IN" dirty="0" err="1"/>
              <a:t>Chanjal</a:t>
            </a:r>
            <a:r>
              <a:rPr lang="en-IN" dirty="0"/>
              <a:t> CM, Rohit </a:t>
            </a:r>
            <a:r>
              <a:rPr lang="en-IN" dirty="0" err="1"/>
              <a:t>Appasaheb</a:t>
            </a:r>
            <a:r>
              <a:rPr lang="en-IN" dirty="0"/>
              <a:t> </a:t>
            </a:r>
            <a:r>
              <a:rPr lang="en-IN" dirty="0" err="1"/>
              <a:t>Anap</a:t>
            </a:r>
            <a:r>
              <a:rPr lang="en-IN" dirty="0"/>
              <a:t>, </a:t>
            </a:r>
            <a:r>
              <a:rPr lang="en-IN" dirty="0" err="1"/>
              <a:t>D.Mohan</a:t>
            </a:r>
            <a:r>
              <a:rPr lang="en-IN" dirty="0"/>
              <a:t> kali prasad, </a:t>
            </a:r>
            <a:r>
              <a:rPr lang="en-IN" dirty="0" err="1"/>
              <a:t>Pepakayala</a:t>
            </a:r>
            <a:r>
              <a:rPr lang="en-IN" dirty="0"/>
              <a:t> </a:t>
            </a:r>
            <a:r>
              <a:rPr lang="en-IN" dirty="0" err="1"/>
              <a:t>santhosh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52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7D35-C684-606F-B3C9-1B0BB942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6953-119D-E5DF-840C-37E01EE2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</a:t>
            </a:r>
            <a:r>
              <a:rPr lang="en-GB" dirty="0" err="1"/>
              <a:t>analyzes</a:t>
            </a:r>
            <a:r>
              <a:rPr lang="en-GB" dirty="0"/>
              <a:t> the dataset of Zomato to understand restaurant trends, customer preferences, and business insights.</a:t>
            </a:r>
          </a:p>
          <a:p>
            <a:r>
              <a:rPr lang="en-GB" dirty="0"/>
              <a:t>The dataset includes details like restaurant names, locations, cuisines, ratings, cost, and online delivery options.</a:t>
            </a:r>
          </a:p>
          <a:p>
            <a:r>
              <a:rPr lang="en-GB" dirty="0"/>
              <a:t>The main goal is to extract meaningful insights that can help improve business decisions and customer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39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7711-E079-0A7D-EFFB-F22C931F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EXCEL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52429B-F544-3DE2-10A2-D39A19B1A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619" y="1959670"/>
            <a:ext cx="10556761" cy="42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0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4E7F-20BB-349B-3661-D1663BF9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TABLEAU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C7EC9F-0BAE-8610-9D96-C7550218C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916" y="1959429"/>
            <a:ext cx="10530673" cy="423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5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635C-A945-D985-8CF6-567801C4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POWERBI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65571-4767-1A36-CF22-4821A42DC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110" y="1959429"/>
            <a:ext cx="10400044" cy="421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8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67C3DE-9578-07BB-0400-924BBEE25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895" y="1250696"/>
            <a:ext cx="5625916" cy="413522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1366C4-F127-9650-EAD8-F7BC8A52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1170040"/>
            <a:ext cx="3360771" cy="4705828"/>
          </a:xfrm>
        </p:spPr>
        <p:txBody>
          <a:bodyPr>
            <a:normAutofit/>
          </a:bodyPr>
          <a:lstStyle/>
          <a:p>
            <a:r>
              <a:rPr lang="en-GB" dirty="0"/>
              <a:t>India has the highest number of restaurants (~8652).</a:t>
            </a:r>
          </a:p>
          <a:p>
            <a:r>
              <a:rPr lang="en-GB" dirty="0"/>
              <a:t>Other countries have significantly fewer restaurants.</a:t>
            </a:r>
          </a:p>
          <a:p>
            <a:r>
              <a:rPr lang="en-GB" dirty="0"/>
              <a:t>Ratings are higher in countries like Philippines (~4.5) compared to India (~2.8).</a:t>
            </a:r>
            <a:endParaRPr lang="en-US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58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5DA9E-B709-D70F-E3A2-3B10804D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F6B96C9-948D-7864-2BF6-0893E9BC4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729C7-A37C-D47A-507C-E12E965F6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F446726-1FBF-C77D-7BE0-BFA956523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B42316-29FD-C82A-4D45-516664961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273F3B9-FC46-2E84-1195-3879E32A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91EDD7D-14B4-09A2-E617-21547F45C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1A0C0A3-96C1-1E46-975C-7A7A4B588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FE3A12-E988-8371-0736-3271A62A5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FF1091-B294-214F-184C-8100CC057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865245"/>
            <a:ext cx="3360771" cy="5010624"/>
          </a:xfrm>
        </p:spPr>
        <p:txBody>
          <a:bodyPr>
            <a:normAutofit/>
          </a:bodyPr>
          <a:lstStyle/>
          <a:p>
            <a:r>
              <a:rPr lang="en-GB" dirty="0"/>
              <a:t>Majority of restaurants fall under “Very Low” (4071) and “Low” (3077).</a:t>
            </a:r>
          </a:p>
          <a:p>
            <a:r>
              <a:rPr lang="en-GB" dirty="0"/>
              <a:t>Medium and High categories have fewer restaurants.</a:t>
            </a:r>
          </a:p>
          <a:p>
            <a:r>
              <a:rPr lang="en-GB" dirty="0"/>
              <a:t>Luxury category has the least number of restaurants.</a:t>
            </a:r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6368FB-ED0A-2191-BBA8-A6701FA8C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16" y="1465006"/>
            <a:ext cx="5336084" cy="36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AB4A2-E354-C10A-72AD-EAFF513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D8E5F4C-EC58-2504-6EF9-0A2C72BA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966637-FBD0-077C-C609-DD9F2A70E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DE8ACB-6C68-7BB2-FFC1-35F34EC5D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9604EF-81A1-2E08-69E5-2C14E8254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CBF1A0A-3D65-5D20-45B1-2A050E127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1D4448E-BD32-69C9-A15C-79EC6CA1F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1EDDC17-89BF-F31A-90CC-8E0160ED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9D8EA0-8BA4-7506-0CC8-ABF0DBA9F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85B01E-29E5-2FA1-9482-ED2FA582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46560"/>
            <a:ext cx="3360771" cy="2900512"/>
          </a:xfrm>
        </p:spPr>
        <p:txBody>
          <a:bodyPr>
            <a:normAutofit/>
          </a:bodyPr>
          <a:lstStyle/>
          <a:p>
            <a:r>
              <a:rPr lang="en-GB" dirty="0"/>
              <a:t>Around 74.34% of restaurants do not offer online delivery.</a:t>
            </a:r>
          </a:p>
          <a:p>
            <a:r>
              <a:rPr lang="en-GB" dirty="0"/>
              <a:t>Only 25.66% provide delivery services.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147A2-CAED-9BF4-C7E9-7E066DD30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059" y="1396722"/>
            <a:ext cx="5295482" cy="363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4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3A3B-0D97-2651-2730-6C1C013E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3878-210E-137A-FCB4-3AD173048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restaurants are concentrated in metro cities like Delhi NCR, Mumbai, and Bangalore.</a:t>
            </a:r>
          </a:p>
          <a:p>
            <a:r>
              <a:rPr lang="en-GB" dirty="0"/>
              <a:t>Online delivery is offered by a large number of restaurants, showing high demand for convenience.</a:t>
            </a:r>
          </a:p>
          <a:p>
            <a:r>
              <a:rPr lang="en-GB" dirty="0"/>
              <a:t>Restaurants with higher ratings generally have moderate pricing, not the most expensive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517C2-0F76-0A35-C421-A2532869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5EE1-73C4-BB10-3977-7A16DBEB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0D10-5876-2A13-4404-39A7F3952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Certain cuisines like North Indian, Chinese, and Fast Food are the most popular.</a:t>
            </a:r>
          </a:p>
          <a:p>
            <a:r>
              <a:rPr lang="en-GB" dirty="0"/>
              <a:t>A large number of restaurants fall in the average rating category (3.0 – 4.0).</a:t>
            </a:r>
          </a:p>
          <a:p>
            <a:r>
              <a:rPr lang="en-GB" dirty="0"/>
              <a:t>Some cities have high restaurant density but low average ratings, indicating quality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92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361C-AA47-AB98-CDFC-8F4D7DAC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A7854-94C5-3F7E-19D9-B183A62C1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India has the highest number of restaurants but lower ratings.</a:t>
            </a:r>
          </a:p>
          <a:p>
            <a:r>
              <a:rPr lang="en-GB" dirty="0"/>
              <a:t>Most restaurants are in low price range.</a:t>
            </a:r>
          </a:p>
          <a:p>
            <a:r>
              <a:rPr lang="en-GB" dirty="0"/>
              <a:t>Many restaurants do not offer online delivery.</a:t>
            </a:r>
          </a:p>
          <a:p>
            <a:r>
              <a:rPr lang="en-GB" dirty="0"/>
              <a:t>Costs are mostly stable over the years.</a:t>
            </a:r>
          </a:p>
          <a:p>
            <a:r>
              <a:rPr lang="en-GB" dirty="0"/>
              <a:t>Ratings are better in some other countries.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24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957A-7D20-6984-756C-CB56DFD6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E650-8144-0000-AD44-EE1BBC08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Restaurants should focus on improving quality to increase ratings.</a:t>
            </a:r>
          </a:p>
          <a:p>
            <a:r>
              <a:rPr lang="en-GB" dirty="0"/>
              <a:t>Expand online delivery services in areas where it is less available.</a:t>
            </a:r>
          </a:p>
          <a:p>
            <a:r>
              <a:rPr lang="en-GB" dirty="0"/>
              <a:t>Introduce popular cuisines in regions where demand is high but supply is low.</a:t>
            </a:r>
          </a:p>
          <a:p>
            <a:r>
              <a:rPr lang="en-GB" dirty="0"/>
              <a:t>Maintain competitive pricing instead of high pricing for better ratings.</a:t>
            </a:r>
          </a:p>
          <a:p>
            <a:r>
              <a:rPr lang="en-GB" dirty="0"/>
              <a:t>Use customer feedback data to improve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410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007B-04BA-2F55-A875-C83C4083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6872-2949-8C5A-B3B7-1D743EAB0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analysis of the Zomato dataset provides valuable insights into restaurant trends and customer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It helps businesses understand market demand and improve their services.</a:t>
            </a:r>
          </a:p>
          <a:p>
            <a:r>
              <a:rPr lang="en-GB" dirty="0"/>
              <a:t>Data-driven decisions can significantly enhance customer satisfaction and profitability.</a:t>
            </a:r>
          </a:p>
          <a:p>
            <a:r>
              <a:rPr lang="en-GB" dirty="0"/>
              <a:t>Overall, this project demonstrates the importance of data analysis in the food industry.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09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5FCB-BB4D-3B5C-5EA0-742D7DD4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1"/>
            <a:ext cx="9601196" cy="4917223"/>
          </a:xfrm>
        </p:spPr>
        <p:txBody>
          <a:bodyPr/>
          <a:lstStyle/>
          <a:p>
            <a:r>
              <a:rPr lang="en-GB" dirty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911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79</TotalTime>
  <Words>441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ZOMATO ANALYSIS</vt:lpstr>
      <vt:lpstr>INTRODUCTION</vt:lpstr>
      <vt:lpstr>EXCEL DASHBOARD</vt:lpstr>
      <vt:lpstr>TABLEAU DASHBOARD</vt:lpstr>
      <vt:lpstr>POWERBI DASHBOARD</vt:lpstr>
      <vt:lpstr>PowerPoint Presentation</vt:lpstr>
      <vt:lpstr>PowerPoint Presentation</vt:lpstr>
      <vt:lpstr>PowerPoint Presentation</vt:lpstr>
      <vt:lpstr>INSIGHTS</vt:lpstr>
      <vt:lpstr>INSIGHTS</vt:lpstr>
      <vt:lpstr>OUTCOMES</vt:lpstr>
      <vt:lpstr>RECOMMENDATIONS</vt:lpstr>
      <vt:lpstr>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neha.devarashetty21@gmail.com</dc:creator>
  <cp:lastModifiedBy>neha.devarashetty21@gmail.com</cp:lastModifiedBy>
  <cp:revision>8</cp:revision>
  <dcterms:created xsi:type="dcterms:W3CDTF">2026-04-29T15:23:22Z</dcterms:created>
  <dcterms:modified xsi:type="dcterms:W3CDTF">2026-04-29T17:34:06Z</dcterms:modified>
</cp:coreProperties>
</file>